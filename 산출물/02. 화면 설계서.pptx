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79D43B-A9E5-4B7B-8F39-6475A5772FD3}">
  <a:tblStyle styleId="{D979D43B-A9E5-4B7B-8F39-6475A5772FD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e0315e8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fae0315e85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ae7081e5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ae7081e5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ae0315e8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fae0315e85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ae0315e85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ae0315e85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57200" y="2209800"/>
            <a:ext cx="10058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지식 챗봇 화면 설계서</a:t>
            </a:r>
            <a:endParaRPr sz="2400"/>
          </a:p>
        </p:txBody>
      </p:sp>
      <p:sp>
        <p:nvSpPr>
          <p:cNvPr id="86" name="Google Shape;86;p13"/>
          <p:cNvSpPr txBox="1"/>
          <p:nvPr/>
        </p:nvSpPr>
        <p:spPr>
          <a:xfrm>
            <a:off x="457200" y="3154680"/>
            <a:ext cx="1005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문서 검색(RAG)과 업무 데이터 조회(Text2SQL)를 하나의 챗봇으로 제공하는 웹 시스템</a:t>
            </a:r>
            <a:endParaRPr sz="1600"/>
          </a:p>
        </p:txBody>
      </p:sp>
      <p:sp>
        <p:nvSpPr>
          <p:cNvPr id="87" name="Google Shape;87;p13"/>
          <p:cNvSpPr/>
          <p:nvPr/>
        </p:nvSpPr>
        <p:spPr>
          <a:xfrm>
            <a:off x="457200" y="3794760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7200" y="4206240"/>
            <a:ext cx="54864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SKN 32기 4차 팀 프로젝트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1Team 장꼬방조: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팀장: 박회종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팀원: 문동원, 이태혁, 이호원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작성일 2026-08-26</a:t>
            </a:r>
            <a:br>
              <a:rPr b="0" i="0" lang="en-US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버전 v1.</a:t>
            </a: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457200" y="384048"/>
            <a:ext cx="86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457200" y="914400"/>
            <a:ext cx="11277300" cy="960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57200" y="1645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1부 개요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972800" y="1645920"/>
            <a:ext cx="75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57200" y="2084832"/>
            <a:ext cx="1081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시스템 구성 한눈에 보기 · 화면 목록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457200" y="2560320"/>
            <a:ext cx="11277300" cy="960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57200" y="288036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2부 공통 요소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972800" y="2880360"/>
            <a:ext cx="75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57200" y="3319272"/>
            <a:ext cx="1081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헤더 · 인증 게이트와 상태 전환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457200" y="3794760"/>
            <a:ext cx="11277300" cy="960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57200" y="411480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3부 화면별 상세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972800" y="4114800"/>
            <a:ext cx="75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57200" y="4553712"/>
            <a:ext cx="1081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· 채팅 · 이상탐지 대시보드 · 리포트 생성 </a:t>
            </a:r>
            <a:r>
              <a:rPr lang="en-US" sz="12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리포트 자료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457200" y="5029200"/>
            <a:ext cx="11277300" cy="960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57200" y="534924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4부 상태와 권한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972800" y="5349240"/>
            <a:ext cx="75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57200" y="5788152"/>
            <a:ext cx="1081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정의(로딩·오류·권한없음·근거불확실) · 역할별 노출 매트릭스 · API 연동 요약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457200" y="6263640"/>
            <a:ext cx="11277300" cy="960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1155680" y="6473952"/>
            <a:ext cx="576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pic>
        <p:nvPicPr>
          <p:cNvPr id="113" name="Google Shape;11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구성 한눈에 보기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57200" y="5751570"/>
            <a:ext cx="1127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화면은 Django가 렌더한 HTML 뼈대 위에서 브라우저 JavaScript가 FastAPI API를 호출해 데이터를 채웁니다. </a:t>
            </a:r>
            <a:endParaRPr b="0" i="0" sz="1300" u="none" cap="none" strike="noStrike">
              <a:solidFill>
                <a:srgbClr val="66708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Django는 계정·세션만 소유하고, 문서·업무 데이터는 FastAPI → LangGraph → MCP 경로로만 접근합니다.</a:t>
            </a:r>
            <a:endParaRPr sz="1600"/>
          </a:p>
        </p:txBody>
      </p:sp>
      <p:sp>
        <p:nvSpPr>
          <p:cNvPr id="121" name="Google Shape;121;p15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pic>
        <p:nvPicPr>
          <p:cNvPr id="122" name="Google Shape;12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0550" y="1076325"/>
            <a:ext cx="6150589" cy="4522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목록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16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1371600"/>
                <a:gridCol w="1828800"/>
                <a:gridCol w="1828800"/>
                <a:gridCol w="1737350"/>
                <a:gridCol w="45080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ID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URL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접근 권한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SCR-AUTH01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(모든 화면에 내장)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비로그인 사용자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세션이 없을 때 모든 화면에 공통으로 표시되는 로그인 폼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SCR-CHAT01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사용자 전체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검색과 업무 데이터 조회를 함께 처리하는 메인 화면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SCR-DASH01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이상탐지 대시보드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/dashboard/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admin, finance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월별 매출·구매 추이와 고정 규칙 기반 이상 신호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SCR-RPT01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리포트 생성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/report/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admin, finance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템플릿과 조회 기간을 선택해 .docx 문서를 생성·다운로드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SCR-ADMIN01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Django Admin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/admin/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is_staff 계정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Django가 기본 제공하는 관리 화면입니다. 이 문서의 설계 대상이 아닙니다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16"/>
          <p:cNvSpPr txBox="1"/>
          <p:nvPr/>
        </p:nvSpPr>
        <p:spPr>
          <a:xfrm>
            <a:off x="457200" y="3931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전이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2621127" y="4297680"/>
            <a:ext cx="2011680" cy="5029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32807" y="429768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090007" y="4297680"/>
            <a:ext cx="2011680" cy="5029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101687" y="429768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558887" y="4297680"/>
            <a:ext cx="2011680" cy="5029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/ 리포트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57200" y="5212080"/>
            <a:ext cx="1127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성공 후 항상 채팅 화면에서 시작합니다. 대시보드·리포트 탭은 hr 역할에는 노출되지 않습니다.</a:t>
            </a:r>
            <a:endParaRPr sz="1600"/>
          </a:p>
        </p:txBody>
      </p:sp>
      <p:sp>
        <p:nvSpPr>
          <p:cNvPr id="138" name="Google Shape;138;p16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pic>
        <p:nvPicPr>
          <p:cNvPr id="139" name="Google Shape;13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헤더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ader-crop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61565"/>
            <a:ext cx="11274549" cy="595045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47" name="Google Shape;147;p17"/>
          <p:cNvGraphicFramePr/>
          <p:nvPr/>
        </p:nvGraphicFramePr>
        <p:xfrm>
          <a:off x="457200" y="2514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457200"/>
                <a:gridCol w="2651750"/>
                <a:gridCol w="4480550"/>
                <a:gridCol w="36850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브랜드 마크·타이틀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챗봇 아이콘(32px, radius 6px) + '사내 지식 챗봇'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정적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 (채팅/대시보드/리포트 생성)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 화면에 is-active 스타일 적용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 시 해당 URL로 이동. 대시보드·리포트는 admin·finance만 노출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 사용자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'표시이름 (역할)' 형식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/api/auth/me 응답으로 채움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로그아웃 버튼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/api/auth/logout 호출 후 로그인 화면으로 전환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8" name="Google Shape;148;p17"/>
          <p:cNvSpPr txBox="1"/>
          <p:nvPr/>
        </p:nvSpPr>
        <p:spPr>
          <a:xfrm>
            <a:off x="457200" y="4391660"/>
            <a:ext cx="1127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헤더는 3개 화면(_header.html)에서 동일하게 include됩니다. 탭 노출 여부는 auth.js의 DASHBOARD_ROLES 목록으로 판단합니다.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pic>
        <p:nvPicPr>
          <p:cNvPr id="150" name="Google Shape;15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533721" y="1427640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984996" y="1427640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9449496" y="1427640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10918071" y="1427640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게이트와 상태 전환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181447" y="1463040"/>
            <a:ext cx="1828800" cy="56692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진입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4907127" y="2304288"/>
            <a:ext cx="2377440" cy="566928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/api/auth/me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2986887" y="3145536"/>
            <a:ext cx="2560320" cy="566928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200: 앱 화면 표시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547207" y="3145536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6644487" y="3145536"/>
            <a:ext cx="2560320" cy="566928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401: 로그인 화면 표시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57200" y="3931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로그인·로그아웃 시 정리 동작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57200" y="42976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85800" y="429768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auth_state_revision 카운터를 증가시켜, 진행 중이던 이전 사용자의 응답(예: 지연된 /api/auth/me)이 화면에 반영되지 않도록 막습니다.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57200" y="480060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85800" y="48006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로그아웃 시 진행 중인 채팅 요청을 AbortController로 즉시 취소합니다.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57200" y="530352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85800" y="53035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 내용·출처 패널·차트를 모두 비우고 새 사용자 기준으로 다시 그립니다.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457200" y="58064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85800" y="580644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페이지 스크립트는 window.onAuthStateReady / onAuthStateCleared 훅으로 이 전환에 반응합니다(auth.js가 공통 로직, chat.js/dashboard.js/report.js가 화면별 처리).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화면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SCR-AUTH01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-AUTH01-login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51560"/>
            <a:ext cx="8046720" cy="502920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" name="Google Shape;185;p19"/>
          <p:cNvSpPr txBox="1"/>
          <p:nvPr/>
        </p:nvSpPr>
        <p:spPr>
          <a:xfrm>
            <a:off x="8732520" y="1234440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 경로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732520" y="1472184"/>
            <a:ext cx="2999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화면(/, /dashboard/, /report/)에 같은 로그인 블록이 포함됩니다.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732520" y="2286000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표시 조건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732520" y="2523744"/>
            <a:ext cx="2999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/api/auth/me가 인증 실패를 반환하면 노출됩니다.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732520" y="3337560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전환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732520" y="3575304"/>
            <a:ext cx="2999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성공 시 즉시 해당 화면 본문으로 전환됩니다. 별도 URL이 없습니다.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732520" y="4389120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732520" y="4626864"/>
            <a:ext cx="2999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세션 쿠키는 HttpOnly·SameSite=Lax이며 브라우저에 자격 증명을 저장하지 않습니다.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/>
          </a:p>
        </p:txBody>
      </p:sp>
      <p:pic>
        <p:nvPicPr>
          <p:cNvPr id="194" name="Google Shape;1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화면 · 영역별 상세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SCR-AUTH01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20"/>
          <p:cNvGraphicFramePr/>
          <p:nvPr/>
        </p:nvGraphicFramePr>
        <p:xfrm>
          <a:off x="4035275" y="1417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309750"/>
                <a:gridCol w="898200"/>
                <a:gridCol w="433600"/>
                <a:gridCol w="1703475"/>
                <a:gridCol w="1796375"/>
                <a:gridCol w="1455700"/>
                <a:gridCol w="10902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영역·요소명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유형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동작·이벤트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연동 API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예외·오류 처리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제목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라벨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'사내 지식 챗봇 로그인'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정적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안내 문구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라벨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'승인된 계정으로 로그인하세요.'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정적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ID 입력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최대 128자, 필수 입력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미입력 시 브라우저 기본 검증으로 제출 차단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미입력 시 제출 차단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입력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최대 256자, 마스킹 표시, 필수 입력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성공 후 입력값을 즉시 비웁니다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미입력 시 제출 차단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 메시지 영역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라벨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실패 사유를 표시하는 경고 영역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실패 시에만 문구가 채워집니다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서버 detail 또는 기본 문구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버튼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폼 제출 기본 동작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 중 비활성화, 완료 후 복구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/api/auth/csrf → POST /api/auth/login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401 시 '아이디 또는 비밀번호가 올바르지 않습니다.'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20"/>
          <p:cNvSpPr txBox="1"/>
          <p:nvPr/>
        </p:nvSpPr>
        <p:spPr>
          <a:xfrm>
            <a:off x="811375" y="5209975"/>
            <a:ext cx="1092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인증·세션은 Django가 소유하며, 화면은 API 호출 결과만 반영합니다.</a:t>
            </a:r>
            <a:br>
              <a:rPr b="0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CSRF 토큰은 로그인 직전에 발급받아 요청 헤더에 실어 보냅니다.</a:t>
            </a:r>
            <a:br>
              <a:rPr b="0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로그인 성공·실패와 무관하게 비밀번호 입력값은 화면에 남기지 않습니다.</a:t>
            </a:r>
            <a:endParaRPr b="0" i="0" sz="1000" u="none" cap="none" strike="noStrike">
              <a:solidFill>
                <a:srgbClr val="66708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i="1" lang="en-US" sz="100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회사 내부 시스템이기 때문에 시스템 관리자인 Admin만이 ID 생성 및 PW 관리한다는 컨셉으로, GUI상에서 유저가 직접적으로 ID 생성 및 PW를 찾을 수 없습니다. </a:t>
            </a:r>
            <a:endParaRPr i="1" sz="1000">
              <a:solidFill>
                <a:srgbClr val="66708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/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-AUTH01-login.png" id="206" name="Google Shape;206;p20"/>
          <p:cNvPicPr preferRelativeResize="0"/>
          <p:nvPr/>
        </p:nvPicPr>
        <p:blipFill rotWithShape="1">
          <a:blip r:embed="rId4">
            <a:alphaModFix/>
          </a:blip>
          <a:srcRect b="10392" l="32140" r="33305" t="16524"/>
          <a:stretch/>
        </p:blipFill>
        <p:spPr>
          <a:xfrm>
            <a:off x="811375" y="1234450"/>
            <a:ext cx="2780550" cy="3675299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0"/>
          <p:cNvSpPr/>
          <p:nvPr/>
        </p:nvSpPr>
        <p:spPr>
          <a:xfrm>
            <a:off x="1112039" y="1938810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1112039" y="2157266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1112039" y="2619848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1112039" y="3149485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1112039" y="3397539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1112039" y="3645595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화면 · 전체 레이아웃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SCR-CHAT01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-CHAT01-document-excerpt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771" y="1307348"/>
            <a:ext cx="7388352" cy="4617721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" name="Google Shape;221;p21"/>
          <p:cNvSpPr/>
          <p:nvPr/>
        </p:nvSpPr>
        <p:spPr>
          <a:xfrm>
            <a:off x="837931" y="1444508"/>
            <a:ext cx="1463100" cy="3108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대화 영역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6173963" y="1444508"/>
            <a:ext cx="1737300" cy="3108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출처 패널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8348948" y="1542213"/>
            <a:ext cx="330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</a:t>
            </a:r>
            <a:r>
              <a:rPr b="1" lang="en-US" sz="12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 영역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348948" y="1834818"/>
            <a:ext cx="330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좌측 대화 영역과 우측 참고 문서 출처 패널의 2단 구조입니다(그리드 비율 고정: 우측 400px). 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8348948" y="2959446"/>
            <a:ext cx="330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</a:t>
            </a:r>
            <a:r>
              <a:rPr b="1" lang="en-US" sz="12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패널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348948" y="3252052"/>
            <a:ext cx="3309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패널은 데스크톱에서 항상 열려 있고 닫기·오버레이는 모바일 대응 잔존 요소로 현재 숨겨져 있습니다.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화면 · ① 대화 영역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SCR-CHAT01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22"/>
          <p:cNvGraphicFramePr/>
          <p:nvPr/>
        </p:nvGraphicFramePr>
        <p:xfrm>
          <a:off x="5537200" y="20319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548650"/>
                <a:gridCol w="1554475"/>
                <a:gridCol w="292607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챗봇 아이콘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대화가 비어 있을 때만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 ~ 3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제목·부제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'사내 지식 챗봇에게 물어보세요' 안내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 ~ 5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예시 질문 칩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역할별 문구(hr 1개 / finance 1개 / admin 2개). 클릭 시 자동 전송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chat-welcome-crop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404" y="1372135"/>
            <a:ext cx="4403031" cy="347472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8" name="Google Shape;238;p22"/>
          <p:cNvSpPr/>
          <p:nvPr/>
        </p:nvSpPr>
        <p:spPr>
          <a:xfrm>
            <a:off x="2262307" y="1408269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1032804" y="2609566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917099" y="2974475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1223560" y="3665544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449741" y="4317861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5486400" y="4057140"/>
            <a:ext cx="5788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</a:t>
            </a:r>
            <a:r>
              <a:rPr b="1" i="0" lang="en-US" sz="13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밖의 대화 요소</a:t>
            </a:r>
            <a:endParaRPr/>
          </a:p>
        </p:txBody>
      </p:sp>
      <p:graphicFrame>
        <p:nvGraphicFramePr>
          <p:cNvPr id="244" name="Google Shape;244;p22"/>
          <p:cNvGraphicFramePr/>
          <p:nvPr/>
        </p:nvGraphicFramePr>
        <p:xfrm>
          <a:off x="5486400" y="4422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1828800"/>
                <a:gridCol w="39593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말풍선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질문을 우측 정렬로, 파란 그라디언트 배경으로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로딩 행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'답변을 준비하고 있습니다' 문구 + 회전 스피너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 행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'!' 아바타 + 붉은 배경. 요청 실패 시에만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22"/>
          <p:cNvSpPr txBox="1"/>
          <p:nvPr/>
        </p:nvSpPr>
        <p:spPr>
          <a:xfrm>
            <a:off x="5486400" y="5931660"/>
            <a:ext cx="578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 3개 요소는 각각 사용자가 질문을 보낸 직후, 응답을 기다리는 동안, 요청이 실패했을 때만 나타</a:t>
            </a:r>
            <a:r>
              <a:rPr lang="en-US" sz="100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납니다.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/>
          </a:p>
        </p:txBody>
      </p:sp>
      <p:pic>
        <p:nvPicPr>
          <p:cNvPr id="247" name="Google Shape;2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5537200" y="1610727"/>
            <a:ext cx="5788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 영역 - 첫 화면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화면 · ② 입력창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SCR-CHAT01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-composer-crop.png"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11274552" cy="1286003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7" name="Google Shape;257;p23"/>
          <p:cNvSpPr/>
          <p:nvPr/>
        </p:nvSpPr>
        <p:spPr>
          <a:xfrm>
            <a:off x="573214" y="1488691"/>
            <a:ext cx="237744" cy="237744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11457774" y="1821345"/>
            <a:ext cx="237744" cy="237744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573214" y="2210685"/>
            <a:ext cx="237744" cy="237744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graphicFrame>
        <p:nvGraphicFramePr>
          <p:cNvPr id="260" name="Google Shape;260;p23"/>
          <p:cNvGraphicFramePr/>
          <p:nvPr/>
        </p:nvGraphicFramePr>
        <p:xfrm>
          <a:off x="534150" y="3108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454075"/>
                <a:gridCol w="1816325"/>
                <a:gridCol w="4813250"/>
                <a:gridCol w="41139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질문 입력창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textarea, 최대 4000자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입력에 따라 자동 높이 조절(최대 140px)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전송 버튼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종이비행기 아이콘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 중 비활성화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도움말 문구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'Enter로 전송 · Shift + Enter로 줄바꿈 · 중요한 정보는 원문 출처를 확인하세요.'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정적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23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키보드: Enter는 즉시 전송, Shift+Enter는 줄바꿈입니다. 요청 중에는 입력창 자체는 막지 않고 전송 버튼만 비활성화합니다.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/>
          </a:p>
        </p:txBody>
      </p:sp>
      <p:pic>
        <p:nvPicPr>
          <p:cNvPr id="263" name="Google Shape;2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화면 · ③ 답변 구성 요소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SCR-CHAT01</a:t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-answer-crop.png" id="271" name="Google Shape;27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34440"/>
            <a:ext cx="6126480" cy="368283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2" name="Google Shape;272;p24"/>
          <p:cNvSpPr/>
          <p:nvPr/>
        </p:nvSpPr>
        <p:spPr>
          <a:xfrm>
            <a:off x="449465" y="1546389"/>
            <a:ext cx="237744" cy="237744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904871" y="1546389"/>
            <a:ext cx="237744" cy="237744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275729" y="2960457"/>
            <a:ext cx="237744" cy="237744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275729" y="4296351"/>
            <a:ext cx="237744" cy="237744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275729" y="4572563"/>
            <a:ext cx="237744" cy="237744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6903720" y="12344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route 배지 (4종)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6903720" y="1527048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지식 · 사내 문서 · 업무 데이터 · 문서 + 데이터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903720" y="21031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캐시 배지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903720" y="239572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cached=true 응답에만 '캐시됨' 표시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90372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답변 본문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903720" y="308152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**굵게**와 줄바꿈만 서식 변환, 나머지는 이스케이프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6903720" y="34747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근거 상태 문구 (4종)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6903720" y="3767328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SUPPORTED: 검증된 근거를 바탕으로 답변</a:t>
            </a:r>
            <a:b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PARTIALLY_SUPPORTED: 일부만 확인, 나머지는 안내</a:t>
            </a:r>
            <a:b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INSUFFICIENT: 근거 부족, 다른 표현 요청</a:t>
            </a:r>
            <a:b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CONTRADICTED: 근거 충돌, 확정하지 않음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6903720" y="47548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출처 칩 (3종)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6903720" y="5047488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'문서 N건 · 데이터 N건 근거 보기' / '웹 출처 N건 보기' / '근거 0건'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/>
          </a:p>
        </p:txBody>
      </p:sp>
      <p:pic>
        <p:nvPicPr>
          <p:cNvPr id="288" name="Google Shape;28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화면 · ④ 표·차트</a:t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SCR-CHAT01</a:t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-CHAT01-data.png"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5600" y="1051550"/>
            <a:ext cx="4855452" cy="5256926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7" name="Google Shape;297;p25"/>
          <p:cNvSpPr txBox="1"/>
          <p:nvPr/>
        </p:nvSpPr>
        <p:spPr>
          <a:xfrm>
            <a:off x="6588252" y="1567815"/>
            <a:ext cx="5146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표시 조건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6588252" y="1805559"/>
            <a:ext cx="5146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chartable=true일 때만 상단 요약·차트가 함께 그려집니다.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6588252" y="2710815"/>
            <a:ext cx="5146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정렬·필터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6588252" y="2948559"/>
            <a:ext cx="5146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정렬 헤더는 클릭 3단계(오름차순→내림차순→해제)로 순환합니다.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6588252" y="3853815"/>
            <a:ext cx="5146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CSV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6588252" y="4091559"/>
            <a:ext cx="5146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정렬·상위N 상태 그대로, 숫자는 원본값으로 내보냅니다.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6588252" y="4996815"/>
            <a:ext cx="5146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금액 표시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6588252" y="5234559"/>
            <a:ext cx="5146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sales 도메인의 금액 컬럼(이름 패턴으로 판별)에만 JOD 단위를 붙입니다.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/>
          </a:p>
        </p:txBody>
      </p:sp>
      <p:pic>
        <p:nvPicPr>
          <p:cNvPr id="306" name="Google Shape;30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화면 · ④ 표·차트 상세</a:t>
            </a: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SCR-CHAT01</a:t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4" name="Google Shape;314;p26"/>
          <p:cNvGraphicFramePr/>
          <p:nvPr/>
        </p:nvGraphicFramePr>
        <p:xfrm>
          <a:off x="564925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309750"/>
                <a:gridCol w="975950"/>
                <a:gridCol w="2439875"/>
                <a:gridCol w="23569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 메타 라벨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'{domain} 데이터 · N건 (전체 M건 중)'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필터 적용 시 건수 갱신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상위 N 선택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보기 / 상위 5개 / 상위 10개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 시 표·차트 동시 갱신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CSV 다운로드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 화면 상태 그대로 내보내기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UTF-8 BOM, 숫자는 원본값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 헤더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컬럼 클릭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오름차순 → 내림차순 → 해제 3단계 순환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생성된 SQL 보기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&lt;details&gt; 접기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펼치면 실행 SQL 원문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 요약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최고·최저·평균 + 조건 충족 시 전년 동월 대비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같은 월이 중복되면 대비 계산 생략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차트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Chart.js. 라벨 컬럼+숫자 컬럼, 30행 이하일 때만 렌더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chart_type이 서버에서 항상 비어 있어 실제로는 막대그래프만 그려집니다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 저장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차트를 PNG로 저장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26"/>
          <p:cNvSpPr txBox="1"/>
          <p:nvPr/>
        </p:nvSpPr>
        <p:spPr>
          <a:xfrm>
            <a:off x="5715000" y="5692875"/>
            <a:ext cx="59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chartable 판정: 문자열 라벨 컬럼과 숫자 값 컬럼이 있고 행 수가 30 이하일 때만 true (app/agent/nodes.py).</a:t>
            </a:r>
            <a:br>
              <a:rPr b="0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금액 컬럼(revenue/amount/sales 등 이름 패턴)은 sales 도메인일 때만 화면에서 JOD 단위를 붙입니다.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/>
          </a:p>
        </p:txBody>
      </p:sp>
      <p:pic>
        <p:nvPicPr>
          <p:cNvPr id="317" name="Google Shape;31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-CHAT01-data.png" id="318" name="Google Shape;31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825" y="987738"/>
            <a:ext cx="4855452" cy="5256926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9" name="Google Shape;319;p26"/>
          <p:cNvSpPr/>
          <p:nvPr/>
        </p:nvSpPr>
        <p:spPr>
          <a:xfrm>
            <a:off x="715364" y="2811903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3009678" y="2765541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321" name="Google Shape;321;p26"/>
          <p:cNvSpPr/>
          <p:nvPr/>
        </p:nvSpPr>
        <p:spPr>
          <a:xfrm>
            <a:off x="3843927" y="2811903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848638" y="2898729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323" name="Google Shape;323;p26"/>
          <p:cNvSpPr/>
          <p:nvPr/>
        </p:nvSpPr>
        <p:spPr>
          <a:xfrm>
            <a:off x="715364" y="4066232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671530" y="4229767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715364" y="4942913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3843927" y="4437135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화면 · ⑤ 출처 패널</a:t>
            </a:r>
            <a:endParaRPr/>
          </a:p>
        </p:txBody>
      </p:sp>
      <p:sp>
        <p:nvSpPr>
          <p:cNvPr id="332" name="Google Shape;332;p27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SCR-CHAT01</a:t>
            </a:r>
            <a:endParaRPr/>
          </a:p>
        </p:txBody>
      </p:sp>
      <p:sp>
        <p:nvSpPr>
          <p:cNvPr id="333" name="Google Shape;333;p27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-sources-crop.png" id="334" name="Google Shape;33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408" y="1234440"/>
            <a:ext cx="2391664" cy="489204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5" name="Google Shape;335;p27"/>
          <p:cNvSpPr txBox="1"/>
          <p:nvPr/>
        </p:nvSpPr>
        <p:spPr>
          <a:xfrm>
            <a:off x="5989320" y="1234440"/>
            <a:ext cx="57424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3종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5989320" y="1472184"/>
            <a:ext cx="574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카드(파일명·페이지·발췌), 데이터 카드, 웹 카드(제목·URL, 새 창 열기)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5989320" y="2286000"/>
            <a:ext cx="57424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다운로드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5989320" y="2523744"/>
            <a:ext cx="5742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blob로 받아 Content-Disposition의 파일명을 복원해 저장합니다. 실패 시 우하단 토스트로 안내합니다.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5989320" y="3337560"/>
            <a:ext cx="57424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빈 상태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5989320" y="3575304"/>
            <a:ext cx="5742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전 안내문 / '관련 근거를 찾지 못했습니다' 2종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5989320" y="4389120"/>
            <a:ext cx="57424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URL 검증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5989320" y="4626864"/>
            <a:ext cx="5742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 출처는 http/https만 허용하며, 문서 다운로드는 /api/documents/download 경로만 허용합니다.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/>
          </a:p>
        </p:txBody>
      </p:sp>
      <p:pic>
        <p:nvPicPr>
          <p:cNvPr id="344" name="Google Shape;34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화면 · ⑤ 출처 패널 상세</a:t>
            </a:r>
            <a:endParaRPr/>
          </a:p>
        </p:txBody>
      </p:sp>
      <p:sp>
        <p:nvSpPr>
          <p:cNvPr id="350" name="Google Shape;350;p28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SCR-CHAT01</a:t>
            </a:r>
            <a:endParaRPr/>
          </a:p>
        </p:txBody>
      </p:sp>
      <p:sp>
        <p:nvSpPr>
          <p:cNvPr id="351" name="Google Shape;351;p28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2" name="Google Shape;352;p28"/>
          <p:cNvGraphicFramePr/>
          <p:nvPr/>
        </p:nvGraphicFramePr>
        <p:xfrm>
          <a:off x="5239125" y="17917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360900"/>
                <a:gridCol w="995900"/>
                <a:gridCol w="2045675"/>
                <a:gridCol w="1491475"/>
                <a:gridCol w="15987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1D4ED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카드 유형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 정보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예외 처리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000">
                        <a:solidFill>
                          <a:srgbClr val="667085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문서/</a:t>
                      </a:r>
                      <a:r>
                        <a:rPr lang="en-US" sz="1000">
                          <a:solidFill>
                            <a:srgbClr val="667085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웹 카드</a:t>
                      </a:r>
                      <a:endParaRPr sz="1000">
                        <a:solidFill>
                          <a:srgbClr val="667085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01828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파일명, 참조 페이지, 갱신일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01828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다운로드 버튼 클릭 → GET /api/documents/download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01828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403/404/502를 사용자 문구로 매핑, 실패 시 토스트 / http/https가 아니면 링크를 만들지 않음</a:t>
                      </a:r>
                      <a:endParaRPr sz="1000">
                        <a:solidFill>
                          <a:srgbClr val="101828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101828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solidFill>
                      <a:schemeClr val="lt1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000">
                        <a:solidFill>
                          <a:srgbClr val="667085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발췌 내용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101828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페이지별 발췌(펼침) 내용 상세 확인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페이지 펼침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000">
                        <a:solidFill>
                          <a:srgbClr val="667085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다운로드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01828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문서 카드면 다운로드 버튼 클릭하여 해당 문서 다운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101828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다운로드 버튼 클릭 → GET /api/documents/download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01828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3" name="Google Shape;353;p28"/>
          <p:cNvSpPr txBox="1"/>
          <p:nvPr/>
        </p:nvSpPr>
        <p:spPr>
          <a:xfrm>
            <a:off x="5311900" y="4494875"/>
            <a:ext cx="634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패널 요약문은 선택한 답변 기준으로 바뀝니다: 'N번째 답변 · "질문"의 근거'.</a:t>
            </a:r>
            <a:br>
              <a:rPr b="0" i="0" lang="en-US" sz="10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이전 답변의 근거를 보는 중 새 답변이 도착하면 패널을 자동 전환하지 않고 점프 배너로 안내합니다.</a:t>
            </a:r>
            <a:br>
              <a:rPr b="0" i="0" lang="en-US" sz="10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발견 사항: Source 스키마에 url 필드가 없어 웹 출처는 id 값을 URL 대체로 사용합니다.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/>
          </a:p>
        </p:txBody>
      </p:sp>
      <p:pic>
        <p:nvPicPr>
          <p:cNvPr id="355" name="Google Shape;3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-sources-crop.png" id="356" name="Google Shape;3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7408" y="1234440"/>
            <a:ext cx="2391664" cy="489204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7" name="Google Shape;357;p28"/>
          <p:cNvSpPr/>
          <p:nvPr/>
        </p:nvSpPr>
        <p:spPr>
          <a:xfrm>
            <a:off x="1762724" y="1677251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358" name="Google Shape;358;p28"/>
          <p:cNvSpPr/>
          <p:nvPr/>
        </p:nvSpPr>
        <p:spPr>
          <a:xfrm>
            <a:off x="1762727" y="2276510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359" name="Google Shape;359;p28"/>
          <p:cNvSpPr/>
          <p:nvPr/>
        </p:nvSpPr>
        <p:spPr>
          <a:xfrm>
            <a:off x="4132748" y="1677245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"/>
          <p:cNvSpPr/>
          <p:nvPr/>
        </p:nvSpPr>
        <p:spPr>
          <a:xfrm>
            <a:off x="1358850" y="925525"/>
            <a:ext cx="9474000" cy="52194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 처리 흐름</a:t>
            </a:r>
            <a:endParaRPr/>
          </a:p>
        </p:txBody>
      </p:sp>
      <p:sp>
        <p:nvSpPr>
          <p:cNvPr id="366" name="Google Shape;366;p29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SCR-CHAT01</a:t>
            </a:r>
            <a:endParaRPr/>
          </a:p>
        </p:txBody>
      </p:sp>
      <p:sp>
        <p:nvSpPr>
          <p:cNvPr id="367" name="Google Shape;367;p29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5181447" y="1371600"/>
            <a:ext cx="1828800" cy="56692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 입력</a:t>
            </a:r>
            <a:endParaRPr/>
          </a:p>
        </p:txBody>
      </p:sp>
      <p:sp>
        <p:nvSpPr>
          <p:cNvPr id="369" name="Google Shape;369;p29"/>
          <p:cNvSpPr/>
          <p:nvPr/>
        </p:nvSpPr>
        <p:spPr>
          <a:xfrm>
            <a:off x="5181447" y="2212848"/>
            <a:ext cx="1828800" cy="566928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 분류</a:t>
            </a:r>
            <a:endParaRPr/>
          </a:p>
        </p:txBody>
      </p:sp>
      <p:sp>
        <p:nvSpPr>
          <p:cNvPr id="370" name="Google Shape;370;p29"/>
          <p:cNvSpPr/>
          <p:nvPr/>
        </p:nvSpPr>
        <p:spPr>
          <a:xfrm>
            <a:off x="1706727" y="3054096"/>
            <a:ext cx="1920240" cy="566928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27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GENERAL</a:t>
            </a:r>
            <a:endParaRPr/>
          </a:p>
        </p:txBody>
      </p:sp>
      <p:sp>
        <p:nvSpPr>
          <p:cNvPr id="371" name="Google Shape;371;p29"/>
          <p:cNvSpPr txBox="1"/>
          <p:nvPr/>
        </p:nvSpPr>
        <p:spPr>
          <a:xfrm>
            <a:off x="3626967" y="3054096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/>
          </a:p>
        </p:txBody>
      </p:sp>
      <p:sp>
        <p:nvSpPr>
          <p:cNvPr id="372" name="Google Shape;372;p29"/>
          <p:cNvSpPr/>
          <p:nvPr/>
        </p:nvSpPr>
        <p:spPr>
          <a:xfrm>
            <a:off x="3992727" y="3054096"/>
            <a:ext cx="1920240" cy="566928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27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DOCUMENT</a:t>
            </a:r>
            <a:endParaRPr/>
          </a:p>
        </p:txBody>
      </p:sp>
      <p:sp>
        <p:nvSpPr>
          <p:cNvPr id="373" name="Google Shape;373;p29"/>
          <p:cNvSpPr txBox="1"/>
          <p:nvPr/>
        </p:nvSpPr>
        <p:spPr>
          <a:xfrm>
            <a:off x="5912967" y="3054096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/>
          </a:p>
        </p:txBody>
      </p:sp>
      <p:sp>
        <p:nvSpPr>
          <p:cNvPr id="374" name="Google Shape;374;p29"/>
          <p:cNvSpPr/>
          <p:nvPr/>
        </p:nvSpPr>
        <p:spPr>
          <a:xfrm>
            <a:off x="6278727" y="3054096"/>
            <a:ext cx="1920240" cy="566928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27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endParaRPr/>
          </a:p>
        </p:txBody>
      </p:sp>
      <p:sp>
        <p:nvSpPr>
          <p:cNvPr id="375" name="Google Shape;375;p29"/>
          <p:cNvSpPr txBox="1"/>
          <p:nvPr/>
        </p:nvSpPr>
        <p:spPr>
          <a:xfrm>
            <a:off x="8198967" y="3054096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/>
          </a:p>
        </p:txBody>
      </p:sp>
      <p:sp>
        <p:nvSpPr>
          <p:cNvPr id="376" name="Google Shape;376;p29"/>
          <p:cNvSpPr/>
          <p:nvPr/>
        </p:nvSpPr>
        <p:spPr>
          <a:xfrm>
            <a:off x="8564727" y="3054096"/>
            <a:ext cx="1920240" cy="566928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27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BOTH</a:t>
            </a:r>
            <a:endParaRPr/>
          </a:p>
        </p:txBody>
      </p:sp>
      <p:sp>
        <p:nvSpPr>
          <p:cNvPr id="377" name="Google Shape;377;p29"/>
          <p:cNvSpPr/>
          <p:nvPr/>
        </p:nvSpPr>
        <p:spPr>
          <a:xfrm>
            <a:off x="4175607" y="3895344"/>
            <a:ext cx="3840480" cy="566928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수집 (Document / Data MCP)</a:t>
            </a:r>
            <a:endParaRPr/>
          </a:p>
        </p:txBody>
      </p:sp>
      <p:sp>
        <p:nvSpPr>
          <p:cNvPr id="378" name="Google Shape;378;p29"/>
          <p:cNvSpPr/>
          <p:nvPr/>
        </p:nvSpPr>
        <p:spPr>
          <a:xfrm>
            <a:off x="1706727" y="4736592"/>
            <a:ext cx="1920240" cy="566928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SUPPORTED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9" name="Google Shape;379;p29"/>
          <p:cNvSpPr txBox="1"/>
          <p:nvPr/>
        </p:nvSpPr>
        <p:spPr>
          <a:xfrm>
            <a:off x="3626967" y="4736592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/>
          </a:p>
        </p:txBody>
      </p:sp>
      <p:sp>
        <p:nvSpPr>
          <p:cNvPr id="380" name="Google Shape;380;p29"/>
          <p:cNvSpPr/>
          <p:nvPr/>
        </p:nvSpPr>
        <p:spPr>
          <a:xfrm>
            <a:off x="3992727" y="4736592"/>
            <a:ext cx="1920240" cy="566928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PARTIALLY_</a:t>
            </a:r>
            <a:br>
              <a:rPr b="1"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SUPPORTED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1" name="Google Shape;381;p29"/>
          <p:cNvSpPr txBox="1"/>
          <p:nvPr/>
        </p:nvSpPr>
        <p:spPr>
          <a:xfrm>
            <a:off x="5912967" y="4736592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/>
          </a:p>
        </p:txBody>
      </p:sp>
      <p:sp>
        <p:nvSpPr>
          <p:cNvPr id="382" name="Google Shape;382;p29"/>
          <p:cNvSpPr/>
          <p:nvPr/>
        </p:nvSpPr>
        <p:spPr>
          <a:xfrm>
            <a:off x="6278727" y="4736592"/>
            <a:ext cx="1920240" cy="566928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INSUFFICIENT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3" name="Google Shape;383;p29"/>
          <p:cNvSpPr txBox="1"/>
          <p:nvPr/>
        </p:nvSpPr>
        <p:spPr>
          <a:xfrm>
            <a:off x="8198967" y="4736592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/>
          </a:p>
        </p:txBody>
      </p:sp>
      <p:sp>
        <p:nvSpPr>
          <p:cNvPr id="384" name="Google Shape;384;p29"/>
          <p:cNvSpPr/>
          <p:nvPr/>
        </p:nvSpPr>
        <p:spPr>
          <a:xfrm>
            <a:off x="8564727" y="4736592"/>
            <a:ext cx="1920240" cy="566928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CONTRADICTED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29"/>
          <p:cNvSpPr/>
          <p:nvPr/>
        </p:nvSpPr>
        <p:spPr>
          <a:xfrm>
            <a:off x="4175607" y="5577840"/>
            <a:ext cx="3840480" cy="566928"/>
          </a:xfrm>
          <a:prstGeom prst="roundRect">
            <a:avLst>
              <a:gd fmla="val 16667" name="adj"/>
            </a:avLst>
          </a:prstGeom>
          <a:solidFill>
            <a:srgbClr val="1C4587"/>
          </a:solidFill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답변 생성 · 출처/표 구성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6" name="Google Shape;386;p29"/>
          <p:cNvSpPr txBox="1"/>
          <p:nvPr/>
        </p:nvSpPr>
        <p:spPr>
          <a:xfrm>
            <a:off x="3502151" y="6308475"/>
            <a:ext cx="637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route 배지(①)는 질문 분류 결과, 근거 상태 문구(④)는 근거 평가 결과와 1:1로 대응합니다.</a:t>
            </a:r>
            <a:endParaRPr/>
          </a:p>
        </p:txBody>
      </p:sp>
      <p:sp>
        <p:nvSpPr>
          <p:cNvPr id="387" name="Google Shape;387;p29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/>
          </a:p>
        </p:txBody>
      </p:sp>
      <p:pic>
        <p:nvPicPr>
          <p:cNvPr id="388" name="Google Shape;3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이상탐지 대시보드</a:t>
            </a:r>
            <a:endParaRPr/>
          </a:p>
        </p:txBody>
      </p:sp>
      <p:sp>
        <p:nvSpPr>
          <p:cNvPr id="394" name="Google Shape;394;p30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SCR-DASH01</a:t>
            </a:r>
            <a:endParaRPr/>
          </a:p>
        </p:txBody>
      </p:sp>
      <p:sp>
        <p:nvSpPr>
          <p:cNvPr id="395" name="Google Shape;395;p30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-DASH01-top.png" id="396" name="Google Shape;3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025" y="1051550"/>
            <a:ext cx="7768749" cy="5256926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7" name="Google Shape;397;p30"/>
          <p:cNvSpPr txBox="1"/>
          <p:nvPr/>
        </p:nvSpPr>
        <p:spPr>
          <a:xfrm>
            <a:off x="8458200" y="1234440"/>
            <a:ext cx="3273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KPI 5개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8458200" y="1472184"/>
            <a:ext cx="32735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달 매출·구매액(전월 대비 ▲▼), 연체 총액, 이상 신호 건수, 데이터 기준월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8458200" y="2606040"/>
            <a:ext cx="3273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경고 강조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8458200" y="2843784"/>
            <a:ext cx="32735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연체·이상 신호가 있으면 카드가 붉은 배경으로 강조됩니다</a:t>
            </a:r>
            <a:endParaRPr/>
          </a:p>
        </p:txBody>
      </p:sp>
      <p:sp>
        <p:nvSpPr>
          <p:cNvPr id="401" name="Google Shape;401;p30"/>
          <p:cNvSpPr txBox="1"/>
          <p:nvPr/>
        </p:nvSpPr>
        <p:spPr>
          <a:xfrm>
            <a:off x="8458200" y="3977640"/>
            <a:ext cx="3273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</a:t>
            </a:r>
            <a:endParaRPr/>
          </a:p>
        </p:txBody>
      </p:sp>
      <p:sp>
        <p:nvSpPr>
          <p:cNvPr id="402" name="Google Shape;402;p30"/>
          <p:cNvSpPr txBox="1"/>
          <p:nvPr/>
        </p:nvSpPr>
        <p:spPr>
          <a:xfrm>
            <a:off x="8458200" y="4215384"/>
            <a:ext cx="32735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/api/anomalies + GET /api/dashboard/monthly-trends를 동시 호출</a:t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2345700" y="6422050"/>
            <a:ext cx="5388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화면은 매출·구매 두 섹션으로 이어집니다 (다음 장 상세표 참고)</a:t>
            </a:r>
            <a:endParaRPr/>
          </a:p>
        </p:txBody>
      </p:sp>
      <p:sp>
        <p:nvSpPr>
          <p:cNvPr id="404" name="Google Shape;404;p30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/>
          </a:p>
        </p:txBody>
      </p:sp>
      <p:pic>
        <p:nvPicPr>
          <p:cNvPr id="405" name="Google Shape;40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이상탐지 대시보드 · 상세</a:t>
            </a:r>
            <a:endParaRPr/>
          </a:p>
        </p:txBody>
      </p:sp>
      <p:sp>
        <p:nvSpPr>
          <p:cNvPr id="411" name="Google Shape;411;p31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SCR-DASH01</a:t>
            </a:r>
            <a:endParaRPr/>
          </a:p>
        </p:txBody>
      </p:sp>
      <p:sp>
        <p:nvSpPr>
          <p:cNvPr id="412" name="Google Shape;412;p31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3" name="Google Shape;413;p31"/>
          <p:cNvGraphicFramePr/>
          <p:nvPr/>
        </p:nvGraphicFramePr>
        <p:xfrm>
          <a:off x="8326250" y="12149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309750"/>
                <a:gridCol w="737125"/>
                <a:gridCol w="229187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b="0" sz="950"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</a:t>
                      </a:r>
                      <a:endParaRPr b="0" sz="950"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 b="0" sz="950"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50"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최근달 매출</a:t>
                      </a:r>
                      <a:endParaRPr sz="950"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950"/>
                        <a:t>매출 시계열의 마지막 달 합계를 KRW로 표시하고, 라벨에 해당 월을, 값 아래에 전월 대비 증감률을 ▲▼로 함께 보여줍니다</a:t>
                      </a:r>
                      <a:endParaRPr sz="950"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2</a:t>
                      </a:r>
                      <a:endParaRPr sz="950"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최근달 구매액</a:t>
                      </a:r>
                      <a:endParaRPr sz="950"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950"/>
                        <a:t>구매 시계열의 마지막 달 합계를 같은 형식으로 표시하며, 전월 대비 계산 방식도 매출 카드와 동일합니다.</a:t>
                      </a:r>
                      <a:endParaRPr sz="950"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50"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연체 총액</a:t>
                      </a:r>
                      <a:endParaRPr sz="950"/>
                    </a:p>
                  </a:txBody>
                  <a:tcPr marT="36575" marB="36575" marR="54875" marL="5487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950"/>
                        <a:t>이상 신호 중 유형이 '연체 과다'인 건들의 금액만 합산하며, 합계가 0보다 크면 카드가 붉은 경고 배경으로 바뀝니다.</a:t>
                      </a:r>
                      <a:endParaRPr sz="950"/>
                    </a:p>
                  </a:txBody>
                  <a:tcPr marT="36575" marB="36575" marR="54875" marL="5487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50"/>
                    </a:p>
                  </a:txBody>
                  <a:tcPr marT="36575" marB="36575" marR="54875" marL="5487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이상 신호</a:t>
                      </a:r>
                      <a:endParaRPr sz="950"/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950"/>
                        <a:t>조회된 이상 신호의 전체 건수이며, 1건이라도 감지되면 붉은 경고 배경으로 강조합니다.</a:t>
                      </a:r>
                      <a:endParaRPr sz="950"/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5</a:t>
                      </a:r>
                      <a:endParaRPr sz="950"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데이터 기준</a:t>
                      </a:r>
                      <a:endParaRPr sz="950"/>
                    </a:p>
                  </a:txBody>
                  <a:tcPr marT="36575" marB="36575" marR="54875" marL="54875" anchor="ctr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950"/>
                        <a:t>앞의 수치들이 어느 달을 기준으로 한 값인지 알려주며, 매출 시계열의 마지막 월을 우선 사용합니다.</a:t>
                      </a:r>
                      <a:endParaRPr sz="950"/>
                    </a:p>
                  </a:txBody>
                  <a:tcPr marT="36575" marB="36575" marR="54875" marL="54875" anchor="ctr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6</a:t>
                      </a:r>
                      <a:endParaRPr sz="950"/>
                    </a:p>
                  </a:txBody>
                  <a:tcPr marT="36575" marB="36575" marR="54875" marL="5487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금년 추이 그래프</a:t>
                      </a:r>
                      <a:endParaRPr sz="950"/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해당 도메인 금년 매출 또는 구매 추이 월별 추이 그래프. </a:t>
                      </a:r>
                      <a:endParaRPr sz="950"/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7</a:t>
                      </a:r>
                      <a:endParaRPr sz="950"/>
                    </a:p>
                  </a:txBody>
                  <a:tcPr marT="36575" marB="36575" marR="54875" marL="5487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이상 건수</a:t>
                      </a:r>
                      <a:endParaRPr sz="950"/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해당 도메인 금액 상위 4건만 표시, 초과 시 '전체 N건' 안내</a:t>
                      </a:r>
                      <a:endParaRPr sz="950"/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/>
                        <a:t>8</a:t>
                      </a:r>
                      <a:endParaRPr sz="950"/>
                    </a:p>
                  </a:txBody>
                  <a:tcPr marT="36575" marB="36575" marR="54875" marL="5487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이상 카드</a:t>
                      </a:r>
                      <a:endParaRPr sz="950">
                        <a:solidFill>
                          <a:srgbClr val="10182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대상·유형 배지(금액 이상치/연체 과다/거래 급증)·금액(KRW)·상세·감지 시각</a:t>
                      </a:r>
                      <a:endParaRPr sz="950">
                        <a:solidFill>
                          <a:srgbClr val="10182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감지 결과가 없으면 '현재 감지된 이상 신호가 없습니다' 표시</a:t>
                      </a:r>
                      <a:endParaRPr sz="950">
                        <a:solidFill>
                          <a:srgbClr val="10182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575" marB="3657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4" name="Google Shape;414;p31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/>
          </a:p>
        </p:txBody>
      </p:sp>
      <p:pic>
        <p:nvPicPr>
          <p:cNvPr id="415" name="Google Shape;41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-DASH01-top.png" id="416" name="Google Shape;41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025" y="1051550"/>
            <a:ext cx="7768749" cy="5256926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7" name="Google Shape;417;p31"/>
          <p:cNvSpPr/>
          <p:nvPr/>
        </p:nvSpPr>
        <p:spPr>
          <a:xfrm>
            <a:off x="1266992" y="2017074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418" name="Google Shape;418;p31"/>
          <p:cNvSpPr/>
          <p:nvPr/>
        </p:nvSpPr>
        <p:spPr>
          <a:xfrm>
            <a:off x="2393443" y="2017074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419" name="Google Shape;419;p31"/>
          <p:cNvSpPr/>
          <p:nvPr/>
        </p:nvSpPr>
        <p:spPr>
          <a:xfrm>
            <a:off x="3519894" y="2017074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420" name="Google Shape;420;p31"/>
          <p:cNvSpPr/>
          <p:nvPr/>
        </p:nvSpPr>
        <p:spPr>
          <a:xfrm>
            <a:off x="4646387" y="2017074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421" name="Google Shape;421;p31"/>
          <p:cNvSpPr/>
          <p:nvPr/>
        </p:nvSpPr>
        <p:spPr>
          <a:xfrm>
            <a:off x="5772837" y="2017074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422" name="Google Shape;422;p31"/>
          <p:cNvSpPr/>
          <p:nvPr/>
        </p:nvSpPr>
        <p:spPr>
          <a:xfrm>
            <a:off x="1316303" y="2481291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423" name="Google Shape;423;p31"/>
          <p:cNvSpPr/>
          <p:nvPr/>
        </p:nvSpPr>
        <p:spPr>
          <a:xfrm>
            <a:off x="1887803" y="2481291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/>
          </a:p>
        </p:txBody>
      </p:sp>
      <p:sp>
        <p:nvSpPr>
          <p:cNvPr id="424" name="Google Shape;424;p31"/>
          <p:cNvSpPr/>
          <p:nvPr/>
        </p:nvSpPr>
        <p:spPr>
          <a:xfrm>
            <a:off x="1267066" y="4244791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2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생성 화면</a:t>
            </a: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10195560" y="411480"/>
            <a:ext cx="1527048" cy="329184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SCR-RPT01</a:t>
            </a: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-RPT01.png" id="432" name="Google Shape;43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51560"/>
            <a:ext cx="7772400" cy="485775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3" name="Google Shape;433;p32"/>
          <p:cNvSpPr txBox="1"/>
          <p:nvPr/>
        </p:nvSpPr>
        <p:spPr>
          <a:xfrm>
            <a:off x="8458200" y="1234440"/>
            <a:ext cx="3273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템플릿</a:t>
            </a:r>
            <a:endParaRPr/>
          </a:p>
        </p:txBody>
      </p:sp>
      <p:sp>
        <p:nvSpPr>
          <p:cNvPr id="434" name="Google Shape;434;p32"/>
          <p:cNvSpPr txBox="1"/>
          <p:nvPr/>
        </p:nvSpPr>
        <p:spPr>
          <a:xfrm>
            <a:off x="8458200" y="1472184"/>
            <a:ext cx="32735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등록된 템플릿은 1개 — '월간 매출 리포트'(sales_monthly)</a:t>
            </a:r>
            <a:endParaRPr/>
          </a:p>
        </p:txBody>
      </p:sp>
      <p:sp>
        <p:nvSpPr>
          <p:cNvPr id="435" name="Google Shape;435;p32"/>
          <p:cNvSpPr txBox="1"/>
          <p:nvPr/>
        </p:nvSpPr>
        <p:spPr>
          <a:xfrm>
            <a:off x="8458200" y="2514600"/>
            <a:ext cx="3273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 검증</a:t>
            </a:r>
            <a:endParaRPr/>
          </a:p>
        </p:txBody>
      </p:sp>
      <p:sp>
        <p:nvSpPr>
          <p:cNvPr id="436" name="Google Shape;436;p32"/>
          <p:cNvSpPr txBox="1"/>
          <p:nvPr/>
        </p:nvSpPr>
        <p:spPr>
          <a:xfrm>
            <a:off x="8458200" y="2752344"/>
            <a:ext cx="32735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종료일이 시작일보다 앞서면 클라이언트에서 즉시 오류 표시</a:t>
            </a:r>
            <a:endParaRPr/>
          </a:p>
        </p:txBody>
      </p:sp>
      <p:sp>
        <p:nvSpPr>
          <p:cNvPr id="437" name="Google Shape;437;p32"/>
          <p:cNvSpPr txBox="1"/>
          <p:nvPr/>
        </p:nvSpPr>
        <p:spPr>
          <a:xfrm>
            <a:off x="8458200" y="3794760"/>
            <a:ext cx="3273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</a:t>
            </a:r>
            <a:endParaRPr/>
          </a:p>
        </p:txBody>
      </p:sp>
      <p:sp>
        <p:nvSpPr>
          <p:cNvPr id="438" name="Google Shape;438;p32"/>
          <p:cNvSpPr txBox="1"/>
          <p:nvPr/>
        </p:nvSpPr>
        <p:spPr>
          <a:xfrm>
            <a:off x="8458200" y="4032504"/>
            <a:ext cx="32735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성공 시 .docx가 blob으로 즉시 다운로드됩니다</a:t>
            </a:r>
            <a:endParaRPr/>
          </a:p>
        </p:txBody>
      </p:sp>
      <p:sp>
        <p:nvSpPr>
          <p:cNvPr id="439" name="Google Shape;439;p32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/>
          </a:p>
        </p:txBody>
      </p:sp>
      <p:pic>
        <p:nvPicPr>
          <p:cNvPr id="440" name="Google Shape;44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3"/>
          <p:cNvSpPr txBox="1"/>
          <p:nvPr/>
        </p:nvSpPr>
        <p:spPr>
          <a:xfrm>
            <a:off x="457200" y="384048"/>
            <a:ext cx="86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생성 화면</a:t>
            </a:r>
            <a:r>
              <a:rPr b="1" lang="en-US" sz="2200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상세</a:t>
            </a:r>
            <a:endParaRPr b="1" sz="2200">
              <a:solidFill>
                <a:srgbClr val="101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p33"/>
          <p:cNvSpPr/>
          <p:nvPr/>
        </p:nvSpPr>
        <p:spPr>
          <a:xfrm>
            <a:off x="10195560" y="411480"/>
            <a:ext cx="1527000" cy="329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SCR-RPT01</a:t>
            </a:r>
            <a:endParaRPr/>
          </a:p>
        </p:txBody>
      </p:sp>
      <p:sp>
        <p:nvSpPr>
          <p:cNvPr id="447" name="Google Shape;447;p33"/>
          <p:cNvSpPr/>
          <p:nvPr/>
        </p:nvSpPr>
        <p:spPr>
          <a:xfrm>
            <a:off x="457200" y="914400"/>
            <a:ext cx="11277300" cy="960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-RPT01.png" id="448" name="Google Shape;448;p33"/>
          <p:cNvPicPr preferRelativeResize="0"/>
          <p:nvPr/>
        </p:nvPicPr>
        <p:blipFill rotWithShape="1">
          <a:blip r:embed="rId3">
            <a:alphaModFix/>
          </a:blip>
          <a:srcRect b="0" l="0" r="47316" t="0"/>
          <a:stretch/>
        </p:blipFill>
        <p:spPr>
          <a:xfrm>
            <a:off x="457200" y="1051550"/>
            <a:ext cx="4094726" cy="4857751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9" name="Google Shape;449;p33"/>
          <p:cNvSpPr/>
          <p:nvPr/>
        </p:nvSpPr>
        <p:spPr>
          <a:xfrm>
            <a:off x="1265682" y="1923129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450" name="Google Shape;450;p33"/>
          <p:cNvSpPr/>
          <p:nvPr/>
        </p:nvSpPr>
        <p:spPr>
          <a:xfrm>
            <a:off x="1265682" y="2453432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451" name="Google Shape;451;p33"/>
          <p:cNvSpPr/>
          <p:nvPr/>
        </p:nvSpPr>
        <p:spPr>
          <a:xfrm>
            <a:off x="2886964" y="2453432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452" name="Google Shape;452;p33"/>
          <p:cNvSpPr/>
          <p:nvPr/>
        </p:nvSpPr>
        <p:spPr>
          <a:xfrm>
            <a:off x="1265682" y="2778632"/>
            <a:ext cx="237600" cy="237600"/>
          </a:xfrm>
          <a:prstGeom prst="ellipse">
            <a:avLst/>
          </a:prstGeom>
          <a:solidFill>
            <a:srgbClr val="2563EB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453" name="Google Shape;453;p33"/>
          <p:cNvSpPr txBox="1"/>
          <p:nvPr/>
        </p:nvSpPr>
        <p:spPr>
          <a:xfrm>
            <a:off x="11155680" y="6473952"/>
            <a:ext cx="576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/>
          </a:p>
        </p:txBody>
      </p:sp>
      <p:pic>
        <p:nvPicPr>
          <p:cNvPr id="454" name="Google Shape;45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5" name="Google Shape;455;p33"/>
          <p:cNvGraphicFramePr/>
          <p:nvPr/>
        </p:nvGraphicFramePr>
        <p:xfrm>
          <a:off x="530565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309750"/>
                <a:gridCol w="977775"/>
                <a:gridCol w="2878975"/>
                <a:gridCol w="25693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템플릿 카드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라디오 선택, 이름·설명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 변경 시 다시 렌더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2~3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시작일·종료일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 오늘, 최댓값 오늘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종료일 &lt; 시작일이면 생성 전 오류 표시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생성 버튼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생성 중 '생성 중…'으로 비활성화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 메시지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loading(파랑)/success(초록)/error(빨강) 3색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/api/reports/generate 결과에 따라 갱신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템플릿 없음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'등록된 리포트 템플릿이 없습니다'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/api/reports/templates가 빈 목록일 때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권한 없음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admin·finance가 아니면 전용 안내 화면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56" name="Google Shape;456;p33"/>
          <p:cNvSpPr txBox="1"/>
          <p:nvPr/>
        </p:nvSpPr>
        <p:spPr>
          <a:xfrm>
            <a:off x="5305650" y="4206250"/>
            <a:ext cx="642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 오류 매핑</a:t>
            </a:r>
            <a:endParaRPr/>
          </a:p>
        </p:txBody>
      </p:sp>
      <p:sp>
        <p:nvSpPr>
          <p:cNvPr id="457" name="Google Shape;457;p33"/>
          <p:cNvSpPr txBox="1"/>
          <p:nvPr/>
        </p:nvSpPr>
        <p:spPr>
          <a:xfrm>
            <a:off x="5305650" y="4526290"/>
            <a:ext cx="64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400 형식 오류 · 401 세션 만료 · 403 권한 없음 · 404 미등록 템플릿 · 422 근거 부족 · 502 조회 오류 · 503 서비스 불가</a:t>
            </a:r>
            <a:endParaRPr/>
          </a:p>
        </p:txBody>
      </p:sp>
      <p:sp>
        <p:nvSpPr>
          <p:cNvPr id="458" name="Google Shape;458;p33"/>
          <p:cNvSpPr txBox="1"/>
          <p:nvPr/>
        </p:nvSpPr>
        <p:spPr>
          <a:xfrm>
            <a:off x="5305650" y="5120650"/>
            <a:ext cx="64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구조: 표지(제목·조회 기간) + 섹션별(제목·서술·표·차트). 매출 템플릿은 매출 추이/고객별 순위/미수금 현황 3개 섹션.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4"/>
          <p:cNvSpPr txBox="1"/>
          <p:nvPr/>
        </p:nvSpPr>
        <p:spPr>
          <a:xfrm>
            <a:off x="457200" y="384048"/>
            <a:ext cx="86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생성 화면 · </a:t>
            </a:r>
            <a:r>
              <a:rPr b="1" lang="en-US" sz="2200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(report)</a:t>
            </a:r>
            <a:endParaRPr/>
          </a:p>
        </p:txBody>
      </p:sp>
      <p:sp>
        <p:nvSpPr>
          <p:cNvPr id="464" name="Google Shape;464;p34"/>
          <p:cNvSpPr/>
          <p:nvPr/>
        </p:nvSpPr>
        <p:spPr>
          <a:xfrm>
            <a:off x="10195560" y="411480"/>
            <a:ext cx="1527000" cy="329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SCR-RPT01</a:t>
            </a:r>
            <a:endParaRPr/>
          </a:p>
        </p:txBody>
      </p:sp>
      <p:sp>
        <p:nvSpPr>
          <p:cNvPr id="465" name="Google Shape;465;p34"/>
          <p:cNvSpPr/>
          <p:nvPr/>
        </p:nvSpPr>
        <p:spPr>
          <a:xfrm>
            <a:off x="457200" y="914400"/>
            <a:ext cx="11277300" cy="960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 txBox="1"/>
          <p:nvPr/>
        </p:nvSpPr>
        <p:spPr>
          <a:xfrm>
            <a:off x="504825" y="1053465"/>
            <a:ext cx="1127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다운로드 시 .docx 파일 내용</a:t>
            </a:r>
            <a:endParaRPr/>
          </a:p>
        </p:txBody>
      </p:sp>
      <p:sp>
        <p:nvSpPr>
          <p:cNvPr id="467" name="Google Shape;467;p34"/>
          <p:cNvSpPr txBox="1"/>
          <p:nvPr/>
        </p:nvSpPr>
        <p:spPr>
          <a:xfrm>
            <a:off x="504825" y="1320165"/>
            <a:ext cx="11274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 기간: 2026.01.01 ~ 2026.06.30</a:t>
            </a:r>
            <a:endParaRPr sz="1050">
              <a:solidFill>
                <a:srgbClr val="66708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6708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05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구조: 표지(제목·조회 기간) + 섹션별(제목·서술·표·차트). 매출 템플릿은 매출 추이/고객별 순위/미수금 현황 3개 섹션.</a:t>
            </a: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11155680" y="6473952"/>
            <a:ext cx="576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/>
          </a:p>
        </p:txBody>
      </p:sp>
      <p:pic>
        <p:nvPicPr>
          <p:cNvPr id="469" name="Google Shape;46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700" y="1953550"/>
            <a:ext cx="2808526" cy="4103837"/>
          </a:xfrm>
          <a:prstGeom prst="rect">
            <a:avLst/>
          </a:prstGeom>
          <a:noFill/>
          <a:ln cap="flat" cmpd="sng" w="83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1" name="Google Shape;47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0680" y="1953550"/>
            <a:ext cx="2880419" cy="4160616"/>
          </a:xfrm>
          <a:prstGeom prst="rect">
            <a:avLst/>
          </a:prstGeom>
          <a:noFill/>
          <a:ln cap="flat" cmpd="sng" w="83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2" name="Google Shape;47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8225" y="1969925"/>
            <a:ext cx="2808524" cy="4160624"/>
          </a:xfrm>
          <a:prstGeom prst="rect">
            <a:avLst/>
          </a:prstGeom>
          <a:noFill/>
          <a:ln cap="flat" cmpd="sng" w="83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3" name="Google Shape;473;p34"/>
          <p:cNvSpPr txBox="1"/>
          <p:nvPr/>
        </p:nvSpPr>
        <p:spPr>
          <a:xfrm>
            <a:off x="1858763" y="6114176"/>
            <a:ext cx="102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1</a:t>
            </a:r>
            <a:endParaRPr/>
          </a:p>
        </p:txBody>
      </p:sp>
      <p:sp>
        <p:nvSpPr>
          <p:cNvPr id="474" name="Google Shape;474;p34"/>
          <p:cNvSpPr txBox="1"/>
          <p:nvPr/>
        </p:nvSpPr>
        <p:spPr>
          <a:xfrm>
            <a:off x="5659675" y="6146776"/>
            <a:ext cx="102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2</a:t>
            </a:r>
            <a:endParaRPr/>
          </a:p>
        </p:txBody>
      </p:sp>
      <p:sp>
        <p:nvSpPr>
          <p:cNvPr id="475" name="Google Shape;475;p34"/>
          <p:cNvSpPr txBox="1"/>
          <p:nvPr/>
        </p:nvSpPr>
        <p:spPr>
          <a:xfrm>
            <a:off x="9131288" y="6146776"/>
            <a:ext cx="102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3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5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정의 ① 로딩 · 근거 부족</a:t>
            </a:r>
            <a:endParaRPr/>
          </a:p>
        </p:txBody>
      </p:sp>
      <p:sp>
        <p:nvSpPr>
          <p:cNvPr id="481" name="Google Shape;481;p35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-CHAT01-loading__t457200.png" id="482" name="Google Shape;48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863" y="3223263"/>
            <a:ext cx="5489808" cy="96834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5"/>
          <p:cNvSpPr/>
          <p:nvPr/>
        </p:nvSpPr>
        <p:spPr>
          <a:xfrm>
            <a:off x="542863" y="3223263"/>
            <a:ext cx="5490000" cy="968100"/>
          </a:xfrm>
          <a:prstGeom prst="rect">
            <a:avLst/>
          </a:prstGeom>
          <a:noFill/>
          <a:ln cap="flat" cmpd="sng" w="1545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50" lIns="148350" spcFirstLastPara="1" rIns="148350" wrap="square" tIns="74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5"/>
          <p:cNvSpPr txBox="1"/>
          <p:nvPr/>
        </p:nvSpPr>
        <p:spPr>
          <a:xfrm>
            <a:off x="1409638" y="4552812"/>
            <a:ext cx="338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로딩 상태</a:t>
            </a:r>
            <a:endParaRPr/>
          </a:p>
        </p:txBody>
      </p:sp>
      <p:pic>
        <p:nvPicPr>
          <p:cNvPr descr="SCR-CHAT01-no-evidence__t4206240.png" id="485" name="Google Shape;48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8819" y="2300975"/>
            <a:ext cx="5489848" cy="26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5"/>
          <p:cNvSpPr/>
          <p:nvPr/>
        </p:nvSpPr>
        <p:spPr>
          <a:xfrm>
            <a:off x="6158819" y="2300975"/>
            <a:ext cx="5490000" cy="2645700"/>
          </a:xfrm>
          <a:prstGeom prst="rect">
            <a:avLst/>
          </a:prstGeom>
          <a:noFill/>
          <a:ln cap="flat" cmpd="sng" w="1545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50" lIns="148350" spcFirstLastPara="1" rIns="148350" wrap="square" tIns="74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5"/>
          <p:cNvSpPr txBox="1"/>
          <p:nvPr/>
        </p:nvSpPr>
        <p:spPr>
          <a:xfrm>
            <a:off x="7212102" y="5162392"/>
            <a:ext cx="338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부족(INSUFFICIENT) — 웹 검색 대체</a:t>
            </a:r>
            <a:endParaRPr/>
          </a:p>
        </p:txBody>
      </p:sp>
      <p:sp>
        <p:nvSpPr>
          <p:cNvPr id="488" name="Google Shape;488;p35"/>
          <p:cNvSpPr txBox="1"/>
          <p:nvPr/>
        </p:nvSpPr>
        <p:spPr>
          <a:xfrm>
            <a:off x="514347" y="1495425"/>
            <a:ext cx="6211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문서에서 답을 찾지 못하자 웹 검색으로 대체한 사례</a:t>
            </a:r>
            <a:endParaRPr/>
          </a:p>
        </p:txBody>
      </p:sp>
      <p:sp>
        <p:nvSpPr>
          <p:cNvPr id="489" name="Google Shape;489;p35"/>
          <p:cNvSpPr txBox="1"/>
          <p:nvPr/>
        </p:nvSpPr>
        <p:spPr>
          <a:xfrm>
            <a:off x="514352" y="1811725"/>
            <a:ext cx="10574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route는 DOCUMENT이지만 evidence_status는 INSUFFICIENT입니다. 사내 문서 근거가 부족하면 마지막 수단으로 웹 검색 결과를 근거로 답합니다(FR-RAG-005).</a:t>
            </a:r>
            <a:endParaRPr/>
          </a:p>
        </p:txBody>
      </p:sp>
      <p:sp>
        <p:nvSpPr>
          <p:cNvPr id="490" name="Google Shape;490;p35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/>
          </a:p>
        </p:txBody>
      </p:sp>
      <p:pic>
        <p:nvPicPr>
          <p:cNvPr id="491" name="Google Shape;49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6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정의 ② 오류</a:t>
            </a:r>
            <a:endParaRPr/>
          </a:p>
        </p:txBody>
      </p:sp>
      <p:sp>
        <p:nvSpPr>
          <p:cNvPr id="497" name="Google Shape;497;p36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-AUTH01-error__t457200.png" id="498" name="Google Shape;4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79825"/>
            <a:ext cx="3383280" cy="2610107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6"/>
          <p:cNvSpPr/>
          <p:nvPr/>
        </p:nvSpPr>
        <p:spPr>
          <a:xfrm>
            <a:off x="457200" y="1779825"/>
            <a:ext cx="3383400" cy="261000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6"/>
          <p:cNvSpPr txBox="1"/>
          <p:nvPr/>
        </p:nvSpPr>
        <p:spPr>
          <a:xfrm>
            <a:off x="457200" y="4444796"/>
            <a:ext cx="338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실패</a:t>
            </a:r>
            <a:endParaRPr/>
          </a:p>
        </p:txBody>
      </p:sp>
      <p:pic>
        <p:nvPicPr>
          <p:cNvPr descr="SCR-CHAT01-error__t4206240.png" id="501" name="Google Shape;5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2265800"/>
            <a:ext cx="3383282" cy="596773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6"/>
          <p:cNvSpPr/>
          <p:nvPr/>
        </p:nvSpPr>
        <p:spPr>
          <a:xfrm>
            <a:off x="4206240" y="2265800"/>
            <a:ext cx="3383400" cy="59670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4206240" y="2917437"/>
            <a:ext cx="338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네트워크·서버 오류</a:t>
            </a:r>
            <a:endParaRPr/>
          </a:p>
        </p:txBody>
      </p:sp>
      <p:pic>
        <p:nvPicPr>
          <p:cNvPr descr="SCR-RPT01-validation-error__t7955280.png" id="504" name="Google Shape;50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5280" y="2265800"/>
            <a:ext cx="3383279" cy="855218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6"/>
          <p:cNvSpPr/>
          <p:nvPr/>
        </p:nvSpPr>
        <p:spPr>
          <a:xfrm>
            <a:off x="7955280" y="2265800"/>
            <a:ext cx="3383400" cy="85530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6"/>
          <p:cNvSpPr txBox="1"/>
          <p:nvPr/>
        </p:nvSpPr>
        <p:spPr>
          <a:xfrm>
            <a:off x="7955280" y="3175882"/>
            <a:ext cx="338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입력 검증 오류</a:t>
            </a:r>
            <a:endParaRPr/>
          </a:p>
        </p:txBody>
      </p:sp>
      <p:sp>
        <p:nvSpPr>
          <p:cNvPr id="507" name="Google Shape;507;p36"/>
          <p:cNvSpPr txBox="1"/>
          <p:nvPr/>
        </p:nvSpPr>
        <p:spPr>
          <a:xfrm>
            <a:off x="457200" y="4984292"/>
            <a:ext cx="3657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오류 코드 (app/api/chat.py)</a:t>
            </a:r>
            <a:endParaRPr/>
          </a:p>
        </p:txBody>
      </p:sp>
      <p:sp>
        <p:nvSpPr>
          <p:cNvPr id="508" name="Google Shape;508;p36"/>
          <p:cNvSpPr txBox="1"/>
          <p:nvPr/>
        </p:nvSpPr>
        <p:spPr>
          <a:xfrm>
            <a:off x="457200" y="5276900"/>
            <a:ext cx="54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NO_RESULT(404) · INVALID_INPUT(400) · FORBIDDEN(403)</a:t>
            </a:r>
            <a:b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EVIDENCE_INSUFFICIENT(422) · TIMEOUT(504) · QUERY_ERROR/INTERNAL_ERROR(502·500)</a:t>
            </a:r>
            <a:endParaRPr/>
          </a:p>
        </p:txBody>
      </p:sp>
      <p:sp>
        <p:nvSpPr>
          <p:cNvPr id="509" name="Google Shape;509;p36"/>
          <p:cNvSpPr txBox="1"/>
          <p:nvPr/>
        </p:nvSpPr>
        <p:spPr>
          <a:xfrm>
            <a:off x="6120745" y="3689817"/>
            <a:ext cx="3657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오류 코드 (app/api/reports.py)</a:t>
            </a:r>
            <a:endParaRPr/>
          </a:p>
        </p:txBody>
      </p:sp>
      <p:sp>
        <p:nvSpPr>
          <p:cNvPr id="510" name="Google Shape;510;p36"/>
          <p:cNvSpPr txBox="1"/>
          <p:nvPr/>
        </p:nvSpPr>
        <p:spPr>
          <a:xfrm>
            <a:off x="6120745" y="3982425"/>
            <a:ext cx="530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400 · 401 · 403 · 404 · 422 · 502 · 503</a:t>
            </a:r>
            <a:endParaRPr/>
          </a:p>
        </p:txBody>
      </p:sp>
      <p:sp>
        <p:nvSpPr>
          <p:cNvPr id="511" name="Google Shape;511;p36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/>
          </a:p>
        </p:txBody>
      </p:sp>
      <p:pic>
        <p:nvPicPr>
          <p:cNvPr id="512" name="Google Shape;512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7"/>
          <p:cNvSpPr txBox="1"/>
          <p:nvPr/>
        </p:nvSpPr>
        <p:spPr>
          <a:xfrm>
            <a:off x="457200" y="384048"/>
            <a:ext cx="86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정의 ③ 권한 없음 · </a:t>
            </a:r>
            <a:r>
              <a:rPr b="1" lang="en-US" sz="2200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 권한</a:t>
            </a:r>
            <a:endParaRPr/>
          </a:p>
        </p:txBody>
      </p:sp>
      <p:sp>
        <p:nvSpPr>
          <p:cNvPr id="518" name="Google Shape;518;p37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-DASH01-denied__t457200.png" id="519" name="Google Shape;51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175" y="1539675"/>
            <a:ext cx="3383281" cy="722837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37"/>
          <p:cNvSpPr/>
          <p:nvPr/>
        </p:nvSpPr>
        <p:spPr>
          <a:xfrm>
            <a:off x="806175" y="1539675"/>
            <a:ext cx="3383400" cy="72270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7"/>
          <p:cNvSpPr txBox="1"/>
          <p:nvPr/>
        </p:nvSpPr>
        <p:spPr>
          <a:xfrm>
            <a:off x="806175" y="2317376"/>
            <a:ext cx="338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권한 없음(hr)</a:t>
            </a:r>
            <a:endParaRPr/>
          </a:p>
        </p:txBody>
      </p:sp>
      <p:pic>
        <p:nvPicPr>
          <p:cNvPr descr="SCR-RPT01-denied__t4206240.png" id="522" name="Google Shape;52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5215" y="1539675"/>
            <a:ext cx="3383281" cy="722837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7"/>
          <p:cNvSpPr/>
          <p:nvPr/>
        </p:nvSpPr>
        <p:spPr>
          <a:xfrm>
            <a:off x="4555215" y="1539675"/>
            <a:ext cx="3383400" cy="722700"/>
          </a:xfrm>
          <a:prstGeom prst="rect">
            <a:avLst/>
          </a:prstGeom>
          <a:noFill/>
          <a:ln cap="flat" cmpd="sng" w="952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7"/>
          <p:cNvSpPr txBox="1"/>
          <p:nvPr/>
        </p:nvSpPr>
        <p:spPr>
          <a:xfrm>
            <a:off x="4555215" y="2317376"/>
            <a:ext cx="338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권한 없음(hr)</a:t>
            </a:r>
            <a:endParaRPr/>
          </a:p>
        </p:txBody>
      </p:sp>
      <p:sp>
        <p:nvSpPr>
          <p:cNvPr id="525" name="Google Shape;525;p37"/>
          <p:cNvSpPr txBox="1"/>
          <p:nvPr/>
        </p:nvSpPr>
        <p:spPr>
          <a:xfrm>
            <a:off x="806175" y="2566895"/>
            <a:ext cx="5486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불확실 상태 </a:t>
            </a:r>
            <a:endParaRPr/>
          </a:p>
        </p:txBody>
      </p:sp>
      <p:sp>
        <p:nvSpPr>
          <p:cNvPr id="526" name="Google Shape;526;p37"/>
          <p:cNvSpPr txBox="1"/>
          <p:nvPr/>
        </p:nvSpPr>
        <p:spPr>
          <a:xfrm>
            <a:off x="806175" y="2859503"/>
            <a:ext cx="1078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PARTIALLY_SUPPORTED: 문서·DB 중 일부 조회가 실패해도 확인된 근거만으로 답변하고, 근거 상태 문구로 부분 실패 사유를 알립니다.</a:t>
            </a:r>
            <a:b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CONTRADICTED: 근거 사이에 값이 어긋나면 하나로 확정하지 않고 '담당자 확인이 필요합니다'로 안내합니다(evidence_eval.py).</a:t>
            </a:r>
            <a:b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000">
              <a:solidFill>
                <a:srgbClr val="101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01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7" name="Google Shape;527;p37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endParaRPr/>
          </a:p>
        </p:txBody>
      </p:sp>
      <p:pic>
        <p:nvPicPr>
          <p:cNvPr id="528" name="Google Shape;52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7"/>
          <p:cNvSpPr txBox="1"/>
          <p:nvPr/>
        </p:nvSpPr>
        <p:spPr>
          <a:xfrm>
            <a:off x="876300" y="4949995"/>
            <a:ext cx="5486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hr 계정 접근 권한</a:t>
            </a:r>
            <a:endParaRPr/>
          </a:p>
        </p:txBody>
      </p:sp>
      <p:sp>
        <p:nvSpPr>
          <p:cNvPr id="530" name="Google Shape;530;p37"/>
          <p:cNvSpPr txBox="1"/>
          <p:nvPr/>
        </p:nvSpPr>
        <p:spPr>
          <a:xfrm>
            <a:off x="876300" y="5242603"/>
            <a:ext cx="1078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hr </a:t>
            </a:r>
            <a:r>
              <a:rPr lang="en-US" sz="1000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계정의 경우 sales 및 purchase DB 를 볼 수 있는 권한이 없기 때문에 대시보드 및 리포트 생성 탭에 접근할 수 없습니다. </a:t>
            </a:r>
            <a:endParaRPr sz="1000">
              <a:solidFill>
                <a:srgbClr val="101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00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그렇기 때문에 hr계정으로 로그인 하면 두 탭을 볼 수 없습니다.</a:t>
            </a:r>
            <a:br>
              <a:rPr b="0" i="0" lang="en-US" sz="10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000">
              <a:solidFill>
                <a:srgbClr val="101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01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31" name="Google Shape;531;p37"/>
          <p:cNvPicPr preferRelativeResize="0"/>
          <p:nvPr/>
        </p:nvPicPr>
        <p:blipFill rotWithShape="1">
          <a:blip r:embed="rId6">
            <a:alphaModFix/>
          </a:blip>
          <a:srcRect b="23095" l="0" r="0" t="0"/>
          <a:stretch/>
        </p:blipFill>
        <p:spPr>
          <a:xfrm>
            <a:off x="527775" y="4002275"/>
            <a:ext cx="10972073" cy="89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7"/>
          <p:cNvSpPr/>
          <p:nvPr/>
        </p:nvSpPr>
        <p:spPr>
          <a:xfrm>
            <a:off x="2079625" y="4070150"/>
            <a:ext cx="1057200" cy="27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8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역할별 화면·기능 노출 매트릭스</a:t>
            </a:r>
            <a:endParaRPr/>
          </a:p>
        </p:txBody>
      </p:sp>
      <p:sp>
        <p:nvSpPr>
          <p:cNvPr id="538" name="Google Shape;538;p38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9" name="Google Shape;539;p38"/>
          <p:cNvGraphicFramePr/>
          <p:nvPr/>
        </p:nvGraphicFramePr>
        <p:xfrm>
          <a:off x="457200" y="1823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1463050"/>
                <a:gridCol w="4114800"/>
                <a:gridCol w="1645925"/>
                <a:gridCol w="2194550"/>
                <a:gridCol w="18562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허용 DB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리포트 생성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hr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document_db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 숨김 + 진입 시 차단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 숨김 + 진입 시 차단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finance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document_db, sales_db, purchase_db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admin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document_db, sales_db, purchase_db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가능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0" name="Google Shape;540;p38"/>
          <p:cNvSpPr txBox="1"/>
          <p:nvPr/>
        </p:nvSpPr>
        <p:spPr>
          <a:xfrm>
            <a:off x="457200" y="3377920"/>
            <a:ext cx="1127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클라이언트는 탭을 숨기고 화면을 안내 문구로 대체할 뿐입니다.</a:t>
            </a:r>
            <a:br>
              <a:rPr b="0" i="0" lang="en-US" sz="11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실제 차단은 서버가 담당합니다 — require_database_access()가 요청마다 sales_db·purchase_db 권한을 다시 확인해 403을 반환합니다(shared/auth_policy.py).</a:t>
            </a:r>
            <a:br>
              <a:rPr b="0" i="0" lang="en-US" sz="11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즉 URL을 직접 입력해 대시보드·리포트에 진입해도, hr 계정은 데이터 API 호출 단계에서 거부됩니다.</a:t>
            </a:r>
            <a:endParaRPr/>
          </a:p>
        </p:txBody>
      </p:sp>
      <p:sp>
        <p:nvSpPr>
          <p:cNvPr id="541" name="Google Shape;541;p38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r>
            <a:endParaRPr/>
          </a:p>
        </p:txBody>
      </p:sp>
      <p:pic>
        <p:nvPicPr>
          <p:cNvPr id="542" name="Google Shape;54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9"/>
          <p:cNvSpPr txBox="1"/>
          <p:nvPr/>
        </p:nvSpPr>
        <p:spPr>
          <a:xfrm>
            <a:off x="457200" y="38404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 연동 요약과 구현 범위</a:t>
            </a:r>
            <a:endParaRPr/>
          </a:p>
        </p:txBody>
      </p:sp>
      <p:sp>
        <p:nvSpPr>
          <p:cNvPr id="548" name="Google Shape;548;p39"/>
          <p:cNvSpPr/>
          <p:nvPr/>
        </p:nvSpPr>
        <p:spPr>
          <a:xfrm>
            <a:off x="457200" y="914400"/>
            <a:ext cx="11277295" cy="952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9" name="Google Shape;549;p39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{D979D43B-A9E5-4B7B-8F39-6475A5772FD3}</a:tableStyleId>
              </a:tblPr>
              <a:tblGrid>
                <a:gridCol w="822950"/>
                <a:gridCol w="2468875"/>
                <a:gridCol w="1097275"/>
                <a:gridCol w="1828800"/>
                <a:gridCol w="50566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Method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Endpoint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소유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호출 화면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응답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EFF6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/api/auth/csrf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Django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로그인·로그아웃·리포트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csrf_token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/api/auth/login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Django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user (401 실패)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/api/auth/logout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Django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헤더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204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/api/auth/me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Django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화면 진입 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프로필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/api/chat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answer·sources·tables·cached·route·evidence_status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/api/documents/download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출처 패널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(403/404/502)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/api/anomalies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이상 신호 목록 (403)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/api/dashboard/monthly-trends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sales[]·purchase[] (403)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/api/reports/templates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리포트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템플릿 목록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/api/reports/generate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리포트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01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.docx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50" name="Google Shape;550;p39"/>
          <p:cNvSpPr txBox="1"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구현의 한계</a:t>
            </a:r>
            <a:endParaRPr/>
          </a:p>
        </p:txBody>
      </p:sp>
      <p:sp>
        <p:nvSpPr>
          <p:cNvPr id="551" name="Google Shape;551;p39"/>
          <p:cNvSpPr txBox="1"/>
          <p:nvPr/>
        </p:nvSpPr>
        <p:spPr>
          <a:xfrm>
            <a:off x="457200" y="5029200"/>
            <a:ext cx="112745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표·차트의 chart_type이 서버에서 항상 비어 있어, 채팅 화면의 차트는 시계열 데이터도 막대그래프로만 표시됩니다.</a:t>
            </a:r>
            <a:b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통화 단위가 화면마다 다릅니다 — 대시보드는 KRW, 채팅의 매출 표·차트는 JOD.</a:t>
            </a:r>
            <a:b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대시보드는 admin/finance 접근 시 캐싱 없이 매 요청마다 재계산합니다(성능보다 최신성 우선).</a:t>
            </a:r>
            <a:b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50" u="none" cap="none" strike="noStrike">
                <a:solidFill>
                  <a:srgbClr val="101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리포트 템플릿은 현재 1종(월간 매출 리포트)만 등록돼 있습니다.</a:t>
            </a:r>
            <a:endParaRPr/>
          </a:p>
        </p:txBody>
      </p:sp>
      <p:sp>
        <p:nvSpPr>
          <p:cNvPr id="552" name="Google Shape;552;p39"/>
          <p:cNvSpPr txBox="1"/>
          <p:nvPr/>
        </p:nvSpPr>
        <p:spPr>
          <a:xfrm>
            <a:off x="11155680" y="647395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r>
            <a:endParaRPr/>
          </a:p>
        </p:txBody>
      </p:sp>
      <p:pic>
        <p:nvPicPr>
          <p:cNvPr id="553" name="Google Shape;5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308465"/>
            <a:ext cx="1096709" cy="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0"/>
          <p:cNvSpPr txBox="1"/>
          <p:nvPr/>
        </p:nvSpPr>
        <p:spPr>
          <a:xfrm>
            <a:off x="4569825" y="4349750"/>
            <a:ext cx="38862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9" name="Google Shape;5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126" y="5394082"/>
            <a:ext cx="1863598" cy="62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0" name="Google Shape;560;p40"/>
          <p:cNvCxnSpPr/>
          <p:nvPr/>
        </p:nvCxnSpPr>
        <p:spPr>
          <a:xfrm>
            <a:off x="4487325" y="5329775"/>
            <a:ext cx="405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투명하게 말고 그냥 흰색으로 지워줘" id="561" name="Google Shape;561;p40"/>
          <p:cNvPicPr preferRelativeResize="0"/>
          <p:nvPr/>
        </p:nvPicPr>
        <p:blipFill rotWithShape="1">
          <a:blip r:embed="rId4">
            <a:alphaModFix/>
          </a:blip>
          <a:srcRect b="12739" l="16754" r="21787" t="8626"/>
          <a:stretch/>
        </p:blipFill>
        <p:spPr>
          <a:xfrm>
            <a:off x="5297725" y="1658887"/>
            <a:ext cx="2430400" cy="25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